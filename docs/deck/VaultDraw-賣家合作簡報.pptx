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55664" y="1481328"/>
            <a:ext cx="5138928" cy="3913632"/>
          </a:xfrm>
          <a:prstGeom prst="roundRect">
            <a:avLst>
              <a:gd name="adj" fmla="val 20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lob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12239"/>
            <a:ext cx="4882896" cy="3051810"/>
          </a:xfrm>
          <a:prstGeom prst="rect">
            <a:avLst/>
          </a:prstGeom>
          <a:ln w="9525">
            <a:solidFill>
              <a:srgbClr val="302D3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55664" y="5468112"/>
            <a:ext cx="5138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大廳 · 示意畫面：站上目前為示範資料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0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Vault</a:t>
            </a:r>
            <a:r>
              <a:rPr sz="40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Draw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49424"/>
            <a:ext cx="6400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44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在這裡開池，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44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抽成 0%</a:t>
            </a:r>
            <a:r>
              <a:rPr sz="44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44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逐筆結算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41648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給台灣卡舖、卡商與個人大盤的合作說明。卡從頭到尾在你手上，平台只負責制度：公平性、金流保管、糾紛的客觀答案。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23036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平台抽成 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96896" y="523036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買回價自己定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523036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一卡不會被賣兩次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98932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本簡報所有數字皆取自系統設定值 · 平台尚未正式營運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一句話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你出卡，我們出制度。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VaultDraw 是鑑定卡的線上抽選（オリパ）平台。你把手上的卡編成一個池、自己定價、自己宣告買回價；平台處理籤序、金流與交付的規則。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95728"/>
            <a:ext cx="3454298" cy="2377440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24128" y="2395728"/>
            <a:ext cx="822960" cy="38100"/>
          </a:xfrm>
          <a:prstGeom prst="rect">
            <a:avLst/>
          </a:prstGeom>
          <a:solidFill>
            <a:srgbClr val="F0B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788920"/>
            <a:ext cx="28325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卡在你手上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310128"/>
            <a:ext cx="283250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平台不代管實體卡。買家抽中後，你直接寄給他 —— 平台只提供收件資訊與一個雙方確認的機制。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2395728"/>
            <a:ext cx="3454298" cy="2377440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679594" y="2395728"/>
            <a:ext cx="822960" cy="38100"/>
          </a:xfrm>
          <a:prstGeom prst="rect">
            <a:avLst/>
          </a:prstGeom>
          <a:solidFill>
            <a:srgbClr val="35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79594" y="2788920"/>
            <a:ext cx="28325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錢在制度裡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594" y="3310128"/>
            <a:ext cx="283250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票金先保管，逐筆釋放。你不用等整池抽完才拿得到錢，買家也不用擔心付了錢拿不到卡。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4164" y="2395728"/>
            <a:ext cx="3454298" cy="2377440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335060" y="2395728"/>
            <a:ext cx="822960" cy="38100"/>
          </a:xfrm>
          <a:prstGeom prst="rect">
            <a:avLst/>
          </a:prstGeom>
          <a:solidFill>
            <a:srgbClr val="A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35060" y="2788920"/>
            <a:ext cx="28325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公平性可驗算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3310128"/>
            <a:ext cx="283250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籤序在開賣前就封存並公布雜湊，完抽後公開種子。「是不是有內定」這件事有客觀答案，不需要你自證清白。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047488"/>
            <a:ext cx="107652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換句話說：</a:t>
            </a: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你原本花在自證清白、對帳、處理糾紛上的時間，這裡由系統的規則承擔。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你現在在處理的四件事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這四件麻煩，沒有一件跟「賣卡」有關。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不管你現在在別的オリパ平台開池，還是在蝦皮／FB 社團賣卡，時間大多花在這裡。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67712"/>
            <a:ext cx="5245455" cy="1536192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987552" y="252374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F5A4D"/>
                </a:solidFill>
                <a:latin typeface="PingFang TC"/>
                <a:ea typeface="PingFang TC"/>
                <a:cs typeface="PingFang TC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505456"/>
            <a:ext cx="42396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「你們是不是有內定？」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926080"/>
            <a:ext cx="423961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抽到爛卡的人在留言區問，你拿不出證據，只能一個一個解釋。解釋一百次，還是有人不信。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267712"/>
            <a:ext cx="5245455" cy="1536192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507327" y="252374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F5A4D"/>
                </a:solidFill>
                <a:latin typeface="PingFang TC"/>
                <a:ea typeface="PingFang TC"/>
                <a:cs typeface="PingFang TC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951" y="2505456"/>
            <a:ext cx="42396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同一張卡被登記兩次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7951" y="2926080"/>
            <a:ext cx="423961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上架時貼錯編號、或同一張卡同時掛在兩個地方 —— 通常是兩個買家吵起來才發現，傷的是你的信譽。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023360"/>
            <a:ext cx="5245455" cy="1536192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87552" y="427939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F5A4D"/>
                </a:solidFill>
                <a:latin typeface="PingFang TC"/>
                <a:ea typeface="PingFang TC"/>
                <a:cs typeface="PingFang TC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4261104"/>
            <a:ext cx="42396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錢卡在別人手上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4681728"/>
            <a:ext cx="423961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整池賣完才結算，或是等平台的月結。現金流被別人的節奏綁住，下一批貨進不了。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4023360"/>
            <a:ext cx="5245455" cy="1536192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507327" y="427939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F5A4D"/>
                </a:solidFill>
                <a:latin typeface="PingFang TC"/>
                <a:ea typeface="PingFang TC"/>
                <a:cs typeface="PingFang TC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7951" y="4261104"/>
            <a:ext cx="42396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客服與對帳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7951" y="4681728"/>
            <a:ext cx="423961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誰付了錢、誰還沒寄、哪一筆該退 —— 靠對話紀錄與試算表追。規模一大就開始漏。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797296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接下來四頁，</a:t>
            </a:r>
            <a:r>
              <a:rPr sz="14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每一頁對應上面一件事，講的是系統怎麼替你擋掉它。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抽成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平台抽成 0%。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不是首年優惠、不是階梯費率、沒有上架費。系統裡那個費率常數的值就是 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12848"/>
            <a:ext cx="5120640" cy="2743200"/>
          </a:xfrm>
          <a:prstGeom prst="roundRect">
            <a:avLst>
              <a:gd name="adj" fmla="val 3500"/>
            </a:avLst>
          </a:prstGeom>
          <a:solidFill>
            <a:srgbClr val="2C1512"/>
          </a:solidFill>
          <a:ln w="12700">
            <a:solidFill>
              <a:srgbClr val="F73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70432" y="2615184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950208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平台從你的票收抽走的比例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Menlo"/>
                <a:ea typeface="Menlo"/>
                <a:cs typeface="Menlo"/>
              </a:rPr>
              <a:t>PLATFORM_FEE_RATE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212848"/>
            <a:ext cx="52788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票收 100% 是你的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560320"/>
            <a:ext cx="52788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買家付的每一點票金，扣掉你自己宣告的買回價之後，剩下的全部進你的口袋。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3182112"/>
            <a:ext cx="52788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沒有上架費、沒有開池費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3529584"/>
            <a:ext cx="52788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開一個池不用先付錢。第一個池賣不好，你的損失是時間，不是費用。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4151376"/>
            <a:ext cx="52788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這一頁刻意不談我們怎麼賺錢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4498848"/>
            <a:ext cx="52788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平台還在測試階段，收入模式尚未定案。定案之前的規則就是這一頁寫的，改動會提前公告，不會回頭對已開的池追收。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現金流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逐筆結算，不用等整池抽完。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一張卡被抽走，那一筆票金就記在你名下。它走完交付流程就變成可動用 —— 不必等同池的其他籤賣掉。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" y="3054096"/>
            <a:ext cx="9966960" cy="25400"/>
          </a:xfrm>
          <a:prstGeom prst="rect">
            <a:avLst/>
          </a:prstGeom>
          <a:solidFill>
            <a:srgbClr val="2A2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59536" y="2889504"/>
            <a:ext cx="329184" cy="329184"/>
          </a:xfrm>
          <a:prstGeom prst="ellipse">
            <a:avLst/>
          </a:prstGeom>
          <a:solidFill>
            <a:srgbClr val="F73B20"/>
          </a:solidFill>
          <a:ln w="38100">
            <a:solidFill>
              <a:srgbClr val="0D0C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" y="2487168"/>
            <a:ext cx="2212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抽中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38328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票金記在你名下
（保留額）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27248" y="2980944"/>
            <a:ext cx="347472" cy="146304"/>
          </a:xfrm>
          <a:prstGeom prst="rightArrow">
            <a:avLst/>
          </a:prstGeom>
          <a:solidFill>
            <a:srgbClr val="4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3639312" y="2889504"/>
            <a:ext cx="329184" cy="329184"/>
          </a:xfrm>
          <a:prstGeom prst="ellipse">
            <a:avLst/>
          </a:prstGeom>
          <a:solidFill>
            <a:srgbClr val="F0BB52"/>
          </a:solidFill>
          <a:ln w="38100">
            <a:solidFill>
              <a:srgbClr val="0D0C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84448" y="2487168"/>
            <a:ext cx="2212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你寄出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38328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72 小時內
寄給買家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07024" y="2980944"/>
            <a:ext cx="347472" cy="146304"/>
          </a:xfrm>
          <a:prstGeom prst="rightArrow">
            <a:avLst/>
          </a:prstGeom>
          <a:solidFill>
            <a:srgbClr val="4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19088" y="2889504"/>
            <a:ext cx="329184" cy="329184"/>
          </a:xfrm>
          <a:prstGeom prst="ellipse">
            <a:avLst/>
          </a:prstGeom>
          <a:solidFill>
            <a:srgbClr val="35C98A"/>
          </a:solidFill>
          <a:ln w="38100">
            <a:solidFill>
              <a:srgbClr val="0D0C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64224" y="2487168"/>
            <a:ext cx="2212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買家確認／7 天期滿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38328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鑑賞期走完
（以先到者為準）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86800" y="2980944"/>
            <a:ext cx="347472" cy="146304"/>
          </a:xfrm>
          <a:prstGeom prst="rightArrow">
            <a:avLst/>
          </a:prstGeom>
          <a:solidFill>
            <a:srgbClr val="4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198864" y="2889504"/>
            <a:ext cx="329184" cy="329184"/>
          </a:xfrm>
          <a:prstGeom prst="ellipse">
            <a:avLst/>
          </a:prstGeom>
          <a:solidFill>
            <a:srgbClr val="35C98A"/>
          </a:solidFill>
          <a:ln w="38100">
            <a:solidFill>
              <a:srgbClr val="0D0C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0" y="2487168"/>
            <a:ext cx="2212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可動用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8328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那一筆入袋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114800"/>
            <a:ext cx="5669280" cy="1572768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005840" y="438912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1E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F0BB52"/>
                </a:solidFill>
                <a:latin typeface="PingFang TC"/>
                <a:ea typeface="PingFang TC"/>
                <a:cs typeface="PingFang TC"/>
              </a:rPr>
              <a:t>買家不申請出貨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28032"/>
            <a:ext cx="50840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F0BB52"/>
                </a:solidFill>
                <a:latin typeface="PingFang TC"/>
                <a:ea typeface="PingFang TC"/>
                <a:cs typeface="PingFang TC"/>
              </a:rPr>
              <a:t>14 天</a:t>
            </a: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後視同接受寄存，那一筆自動釋放。你的出貨義務不會消失 —— 買家之後仍可申請 —— 但錢不再被別人的沉默綁住。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56832" y="4114800"/>
            <a:ext cx="4818888" cy="1572768"/>
          </a:xfrm>
          <a:prstGeom prst="roundRect">
            <a:avLst>
              <a:gd name="adj" fmla="val 3500"/>
            </a:avLst>
          </a:prstGeom>
          <a:solidFill>
            <a:srgbClr val="2A2114"/>
          </a:solidFill>
          <a:ln w="12700">
            <a:solidFill>
              <a:srgbClr val="F0A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949440" y="43891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2A2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F0A13A"/>
                </a:solidFill>
                <a:latin typeface="PingFang TC"/>
                <a:ea typeface="PingFang TC"/>
                <a:cs typeface="PingFang TC"/>
              </a:rPr>
              <a:t>逾期未寄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828032"/>
            <a:ext cx="4233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F0A13A"/>
                </a:solidFill>
                <a:latin typeface="PingFang TC"/>
                <a:ea typeface="PingFang TC"/>
                <a:cs typeface="PingFang TC"/>
              </a:rPr>
              <a:t>超過 72 小時</a:t>
            </a: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，系統把票金退還買家，並記你一次違約。這條對你是限制，對整個站的信任是必要的。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定價權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買回價是你自己宣告的金額，不是平台訂的比率。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一個賞別填一個絕對金額（例如 A 賞 3,000、D 賞 120），範圍 10 – 10,000,000 點。沒有基準、沒有係數、平台不會事後調。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pic>
        <p:nvPicPr>
          <p:cNvPr id="9" name="Picture 8" descr="x-tierb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23746"/>
            <a:ext cx="6492240" cy="1681323"/>
          </a:xfrm>
          <a:prstGeom prst="rect">
            <a:avLst/>
          </a:prstGeom>
          <a:ln w="9525">
            <a:solidFill>
              <a:srgbClr val="302D3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13232" y="4187952"/>
            <a:ext cx="6492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開池表單的買回價欄位 · 示意畫面：站上目前為示範資料</a:t>
            </a:r>
          </a:p>
        </p:txBody>
      </p:sp>
      <p:pic>
        <p:nvPicPr>
          <p:cNvPr id="11" name="Picture 10" descr="x-r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578362"/>
            <a:ext cx="6492240" cy="1139420"/>
          </a:xfrm>
          <a:prstGeom prst="rect">
            <a:avLst/>
          </a:prstGeom>
          <a:ln w="9525">
            <a:solidFill>
              <a:srgbClr val="302D3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5815584"/>
            <a:ext cx="6492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買家在池頁看到的同一組數字 · 示意畫面：站上目前為示範資料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2" y="2395728"/>
            <a:ext cx="3907231" cy="3419856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82128" y="2688336"/>
            <a:ext cx="32854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為什麼這對你有利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3145536"/>
            <a:ext cx="3285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· </a:t>
            </a:r>
            <a:r>
              <a:rPr sz="14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你說多少就是多少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438144"/>
            <a:ext cx="312084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沒有「平台參考價的 X 成」這種會被事後調整的公式。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4059936"/>
            <a:ext cx="3285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· </a:t>
            </a:r>
            <a:r>
              <a:rPr sz="14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開賣後改不了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52544"/>
            <a:ext cx="312084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金額被寫進公開的公平性承諾雜湊。這一池的成本上限當場鎖死。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8" y="4974336"/>
            <a:ext cx="3285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· </a:t>
            </a:r>
            <a:r>
              <a:rPr sz="14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下限不是平均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266944"/>
            <a:ext cx="312084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保底回饋率算的是最壞情況（整池被全數買回），不是你預期要付的錢。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信譽保護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同一個鑑定編號，不可能出現在第二個池。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鑑定編號在資料庫層是唯一鍵 unique(grader, cert_no)。不是「上架時提醒一下」，是寫進資料庫、繞不過去的約束。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32304"/>
            <a:ext cx="2834640" cy="1481328"/>
          </a:xfrm>
          <a:prstGeom prst="roundRect">
            <a:avLst>
              <a:gd name="adj" fmla="val 3500"/>
            </a:avLst>
          </a:prstGeom>
          <a:solidFill>
            <a:srgbClr val="1E1C22"/>
          </a:solidFill>
          <a:ln w="12700">
            <a:solidFill>
              <a:srgbClr val="A49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9264" y="2688336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你按下開池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072384"/>
            <a:ext cx="23225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系統把每一張卡的
鑑定編號一起送出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02736" y="3108960"/>
            <a:ext cx="365760" cy="146304"/>
          </a:xfrm>
          <a:prstGeom prst="rightArrow">
            <a:avLst/>
          </a:prstGeom>
          <a:solidFill>
            <a:srgbClr val="4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023360" y="2432304"/>
            <a:ext cx="2834640" cy="1481328"/>
          </a:xfrm>
          <a:prstGeom prst="roundRect">
            <a:avLst>
              <a:gd name="adj" fmla="val 3500"/>
            </a:avLst>
          </a:prstGeom>
          <a:solidFill>
            <a:srgbClr val="2C1512"/>
          </a:solidFill>
          <a:ln w="12700">
            <a:solidFill>
              <a:srgbClr val="F73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79392" y="2688336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資料庫唯一鍵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3072384"/>
            <a:ext cx="23225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unique(grader, cert_no)
第二次寫入直接失敗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12864" y="3108960"/>
            <a:ext cx="365760" cy="146304"/>
          </a:xfrm>
          <a:prstGeom prst="rightArrow">
            <a:avLst/>
          </a:prstGeom>
          <a:solidFill>
            <a:srgbClr val="4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333488" y="2432304"/>
            <a:ext cx="2834640" cy="1481328"/>
          </a:xfrm>
          <a:prstGeom prst="roundRect">
            <a:avLst>
              <a:gd name="adj" fmla="val 3500"/>
            </a:avLst>
          </a:prstGeom>
          <a:solidFill>
            <a:srgbClr val="11251C"/>
          </a:solidFill>
          <a:ln w="12700">
            <a:solidFill>
              <a:srgbClr val="35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89520" y="2688336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35C98A"/>
                </a:solidFill>
                <a:latin typeface="PingFang TC"/>
                <a:ea typeface="PingFang TC"/>
                <a:cs typeface="PingFang TC"/>
              </a:rPr>
              <a:t>當場被擋下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072384"/>
            <a:ext cx="23225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不是等兩個買家
吵起來才發現</a:t>
            </a:r>
          </a:p>
        </p:txBody>
      </p:sp>
      <p:pic>
        <p:nvPicPr>
          <p:cNvPr id="20" name="Picture 19" descr="x-cert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25583"/>
            <a:ext cx="10058400" cy="967153"/>
          </a:xfrm>
          <a:prstGeom prst="rect">
            <a:avLst/>
          </a:prstGeom>
          <a:ln w="9525">
            <a:solidFill>
              <a:srgbClr val="302D38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713232" y="52486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從既有的池複製範本時，鑑定卡那一列會被擋下並要求重挑 · 示意畫面：站上目前為示範資料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32704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這條保護的是你的信譽。</a:t>
            </a: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買家不需要相信你有好好管庫存 —— 系統本身就不允許那個錯誤發生。沒有編號的生卡（RAW）不受此約束，但它們在池頁會被標成「未鑑定」，買家看得到。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客訴的客觀答案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「是不是有內定」這件事，有答案可以算。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籤序在開賣前就洗好、封存，並公布一組 SHA-256 承諾雜湊。隨機來源用 drand（公開的分散式亂數）的未來輪次 —— 那個數字在開池當下還不存在。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3454298" cy="1847088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987552" y="27797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E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A98C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798064"/>
            <a:ext cx="248503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A98CFF"/>
                </a:solidFill>
                <a:latin typeface="PingFang TC"/>
                <a:ea typeface="PingFang TC"/>
                <a:cs typeface="PingFang TC"/>
              </a:rPr>
              <a:t>開池前 · 承諾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55264"/>
            <a:ext cx="290565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產生 server seed，只公布它的 SHA-256。籤序由這組 seed 決定，公布之後改不動而不被發現。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85818" y="3383280"/>
            <a:ext cx="164592" cy="128016"/>
          </a:xfrm>
          <a:prstGeom prst="rightArrow">
            <a:avLst/>
          </a:prstGeom>
          <a:solidFill>
            <a:srgbClr val="4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368698" y="2542032"/>
            <a:ext cx="3454298" cy="1847088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643018" y="27797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E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3642" y="2798064"/>
            <a:ext cx="248503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開賣時 · 鎖定外部亂數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3255264"/>
            <a:ext cx="290565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鎖定 drand 一個「還沒發生」的未來輪次。那一輪的值全世界都還不知道，包括平台 —— 所以沒有人能試到對自己有利的籤序。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41284" y="3383280"/>
            <a:ext cx="164592" cy="128016"/>
          </a:xfrm>
          <a:prstGeom prst="rightArrow">
            <a:avLst/>
          </a:prstGeom>
          <a:solidFill>
            <a:srgbClr val="4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024164" y="2542032"/>
            <a:ext cx="3454298" cy="1847088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298484" y="27797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E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35C98A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9108" y="2798064"/>
            <a:ext cx="248503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35C98A"/>
                </a:solidFill>
                <a:latin typeface="PingFang TC"/>
                <a:ea typeface="PingFang TC"/>
                <a:cs typeface="PingFang TC"/>
              </a:rPr>
              <a:t>完抽後 · 揭示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3255264"/>
            <a:ext cx="290565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公開 server seed 與完整籤序。任何人都能自己重算一次，先驗雜湊、再對籤序。</a:t>
            </a:r>
          </a:p>
        </p:txBody>
      </p:sp>
      <p:pic>
        <p:nvPicPr>
          <p:cNvPr id="23" name="Picture 22" descr="x-f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172" y="4626864"/>
            <a:ext cx="3813879" cy="1133856"/>
          </a:xfrm>
          <a:prstGeom prst="rect">
            <a:avLst/>
          </a:prstGeom>
          <a:ln w="9525">
            <a:solidFill>
              <a:srgbClr val="302D38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713232" y="5815584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每一池的驗證分頁 · 示意畫面：站上目前為示範資料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08192" y="4626864"/>
            <a:ext cx="5370271" cy="1133856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0" y="4846320"/>
            <a:ext cx="47850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對你的意義：</a:t>
            </a: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下次有人在留言區問「是不是有內定」，你不用寫一段解釋 —— 把驗證分頁的連結貼給他，讓他自己算。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開一個池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一頁表單，右側即時試算，缺什麼直接告訴你。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沒有審核排隊、沒有客服來回。表單填完就能開賣。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pic>
        <p:nvPicPr>
          <p:cNvPr id="9" name="Picture 8" descr="seller-new-filled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296" y="2286000"/>
            <a:ext cx="5071872" cy="3566160"/>
          </a:xfrm>
          <a:prstGeom prst="rect">
            <a:avLst/>
          </a:prstGeom>
          <a:ln w="9525">
            <a:solidFill>
              <a:srgbClr val="302D3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13232" y="5907024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開池表單 · 示意畫面：站上目前為示範資料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416" y="23042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C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286000"/>
            <a:ext cx="31757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挑卡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578608"/>
            <a:ext cx="317571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從你的卡冊挑，或搜卡片目錄。卡號、系列、版本一起帶進獎品。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416" y="317296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C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154680"/>
            <a:ext cx="31757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配賞別與數量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447288"/>
            <a:ext cx="317571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A/B/C/D 賞與最後賞，各自填數量。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6" y="40416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C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023360"/>
            <a:ext cx="31757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填票價與買回價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315968"/>
            <a:ext cx="317571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右側即時算出票收與保底回饋率。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49103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C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4892040"/>
            <a:ext cx="31757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按下開池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5184648"/>
            <a:ext cx="317571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系統當場洗籤、封存、公布雜湊，池立刻上架。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0416" y="5797296"/>
            <a:ext cx="3578047" cy="420624"/>
          </a:xfrm>
          <a:prstGeom prst="roundRect">
            <a:avLst>
              <a:gd name="adj" fmla="val 3500"/>
            </a:avLst>
          </a:prstGeom>
          <a:solidFill>
            <a:srgbClr val="1E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01584" y="5907024"/>
            <a:ext cx="31757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販售天數自訂：</a:t>
            </a:r>
            <a:r>
              <a:rPr sz="12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預設 14 天，最長 90 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經濟護欄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建池時先算一次最壞情況，算不過就不讓你開。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保底回饋率 ＝ Σ(買回價 × 數量) ÷ 票收。這是限制，也是保護 —— 它擋掉的是「當下沒算清楚、上線之後才發現在倒貼」。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50592"/>
            <a:ext cx="2567863" cy="3017520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x-econ-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392" y="2596896"/>
            <a:ext cx="1567542" cy="1572768"/>
          </a:xfrm>
          <a:prstGeom prst="rect">
            <a:avLst/>
          </a:prstGeom>
          <a:ln w="9525">
            <a:solidFill>
              <a:srgbClr val="302D3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32688" y="4315968"/>
            <a:ext cx="21289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FF5A4D"/>
                </a:solidFill>
                <a:latin typeface="PingFang TC"/>
                <a:ea typeface="PingFang TC"/>
                <a:cs typeface="PingFang TC"/>
              </a:rPr>
              <a:t>100% 以上　擋下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681728"/>
            <a:ext cx="21289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整池抽完再全部買回會倒貼。那不是促銷，是印鈔機。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5687" y="2450592"/>
            <a:ext cx="2567863" cy="3017520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x-econ-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847" y="2596896"/>
            <a:ext cx="1567542" cy="1572768"/>
          </a:xfrm>
          <a:prstGeom prst="rect">
            <a:avLst/>
          </a:prstGeom>
          <a:ln w="9525">
            <a:solidFill>
              <a:srgbClr val="302D38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3665143" y="4315968"/>
            <a:ext cx="21289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F0A13A"/>
                </a:solidFill>
                <a:latin typeface="PingFang TC"/>
                <a:ea typeface="PingFang TC"/>
                <a:cs typeface="PingFang TC"/>
              </a:rPr>
              <a:t>90% 以上　提醒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143" y="4681728"/>
            <a:ext cx="21289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放行，但告訴你扣掉運費與金流成本可能倒貼。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8143" y="2450592"/>
            <a:ext cx="2567863" cy="3017520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x-econ-u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496" y="2596896"/>
            <a:ext cx="1673157" cy="1572768"/>
          </a:xfrm>
          <a:prstGeom prst="rect">
            <a:avLst/>
          </a:prstGeom>
          <a:ln w="9525">
            <a:solidFill>
              <a:srgbClr val="302D38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6397599" y="4315968"/>
            <a:ext cx="21289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FF5A4D"/>
                </a:solidFill>
                <a:latin typeface="PingFang TC"/>
                <a:ea typeface="PingFang TC"/>
                <a:cs typeface="PingFang TC"/>
              </a:rPr>
              <a:t>低於 25%　擋下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7599" y="4681728"/>
            <a:ext cx="21289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保底形同沒有，對玩家不公平。站的信任撐不住這種池。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0599" y="2450592"/>
            <a:ext cx="2567863" cy="3017520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x-econ-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7515" y="2596896"/>
            <a:ext cx="1794031" cy="1572768"/>
          </a:xfrm>
          <a:prstGeom prst="rect">
            <a:avLst/>
          </a:prstGeom>
          <a:ln w="9525">
            <a:solidFill>
              <a:srgbClr val="302D38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9130055" y="4315968"/>
            <a:ext cx="21289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35C98A"/>
                </a:solidFill>
                <a:latin typeface="PingFang TC"/>
                <a:ea typeface="PingFang TC"/>
                <a:cs typeface="PingFang TC"/>
              </a:rPr>
              <a:t>合理區間　放行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0055" y="4681728"/>
            <a:ext cx="21289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落在區間內就直接開，不需要任何人審。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888736"/>
            <a:ext cx="107652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開池表單右側的即時試算，四種狀態 · 示意畫面：站上目前為示範資料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出貨與結算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哪一筆該寄、哪一筆已入袋，同一頁看完。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不用自己開試算表對帳。錢分成「可動用」與「保留中」，保留中的每一筆都標著它卡在哪一關。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pic>
        <p:nvPicPr>
          <p:cNvPr id="9" name="Picture 8" descr="x-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42545"/>
            <a:ext cx="6675120" cy="1953454"/>
          </a:xfrm>
          <a:prstGeom prst="rect">
            <a:avLst/>
          </a:prstGeom>
          <a:ln w="9525">
            <a:solidFill>
              <a:srgbClr val="302D3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13232" y="4370832"/>
            <a:ext cx="6675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保留額依關卡分成三堆 · 示意畫面：站上目前為示範資料</a:t>
            </a:r>
          </a:p>
        </p:txBody>
      </p:sp>
      <p:pic>
        <p:nvPicPr>
          <p:cNvPr id="11" name="Picture 10" descr="x-ship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408" y="4626864"/>
            <a:ext cx="3681008" cy="1353312"/>
          </a:xfrm>
          <a:prstGeom prst="rect">
            <a:avLst/>
          </a:prstGeom>
          <a:ln w="9525">
            <a:solidFill>
              <a:srgbClr val="302D3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053328"/>
            <a:ext cx="6309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每一筆都有倒數與一鍵標記 · 同一個買家的多張卡可以一次標記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17536" y="2340864"/>
            <a:ext cx="3760927" cy="3840480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91856" y="2596896"/>
            <a:ext cx="32122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平台不代管實體卡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2980944"/>
            <a:ext cx="32122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卡從頭到尾在你手上，直接寄給買家。平台提供收件資訊與雙方確認的機制，不插手寄送、不收保管費。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6" y="3931920"/>
            <a:ext cx="3212287" cy="12700"/>
          </a:xfrm>
          <a:prstGeom prst="rect">
            <a:avLst/>
          </a:prstGeom>
          <a:solidFill>
            <a:srgbClr val="302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91856" y="4133087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F0BB52"/>
                </a:solidFill>
                <a:latin typeface="PingFang TC"/>
                <a:ea typeface="PingFang TC"/>
                <a:cs typeface="PingFang TC"/>
              </a:rPr>
              <a:t>等你寄出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133087"/>
            <a:ext cx="17858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72 小時內寄出並標記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6" y="4535423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35C98A"/>
                </a:solidFill>
                <a:latin typeface="PingFang TC"/>
                <a:ea typeface="PingFang TC"/>
                <a:cs typeface="PingFang TC"/>
              </a:rPr>
              <a:t>寄出後鑑賞期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535423"/>
            <a:ext cx="17858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買家確認或 7 天期滿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4937759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買家還沒申請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937759"/>
            <a:ext cx="17858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14 天後自動釋放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5431536"/>
            <a:ext cx="32122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違約（逾期未出貨）累積 3 次就不能再開新池。沒有保證金，這是唯一擋得住連續違約的手段。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新賣家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第一個池有上限。這是沒有保證金的代價，也是它的好處。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我們不收保證金。取而代之的是把第一次違約的最大損失壓住 —— 限制只套用在你的第一個池。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95728"/>
            <a:ext cx="5029200" cy="2286000"/>
          </a:xfrm>
          <a:prstGeom prst="roundRect">
            <a:avLst>
              <a:gd name="adj" fmla="val 3500"/>
            </a:avLst>
          </a:prstGeom>
          <a:solidFill>
            <a:srgbClr val="2A2114"/>
          </a:solidFill>
          <a:ln w="12700">
            <a:solidFill>
              <a:srgbClr val="F0A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78992" y="2688336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F0A13A"/>
                </a:solidFill>
                <a:latin typeface="PingFang TC"/>
                <a:ea typeface="PingFang TC"/>
                <a:cs typeface="PingFang TC"/>
              </a:rPr>
              <a:t>第一個池的上限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072384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100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3072384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100,000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點票收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1148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完成第一個池就解除。</a:t>
            </a: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之後沒有任何規模限制。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2395728"/>
            <a:ext cx="5370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開始要準備的東西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81635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2816352"/>
            <a:ext cx="39986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手上要有實體卡。鑑定卡填鑑定機構與編號，生卡直接登記。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3511296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收件資訊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3511296"/>
            <a:ext cx="39986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買家申請出貨時，平台把地址給你，你直接寄。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4206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一個帳號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4206240"/>
            <a:ext cx="39986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LINE 或 Email 登入即可，不用先申請賣家審核。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901184"/>
            <a:ext cx="10765231" cy="1133856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42416" y="5120640"/>
            <a:ext cx="101068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1">
                <a:solidFill>
                  <a:srgbClr val="FF5A4D"/>
                </a:solidFill>
                <a:latin typeface="PingFang TC"/>
                <a:ea typeface="PingFang TC"/>
                <a:cs typeface="PingFang TC"/>
              </a:rPr>
              <a:t>誠實揭露：</a:t>
            </a:r>
            <a:r>
              <a:rPr sz="13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這一頁的每一條都是限制，我們沒有把它包裝成「新手保護」。它存在的理由是：沒有保證金的情況下，平台需要一個上界來承擔第一次違約的風險；違約累積 3 次就不能再開新池。你如果覺得這條不合理，開池前就該知道，而不是上線之後才發現。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現況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平台還在測試階段，尚未正式營運。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這一頁不是行銷。你如果現在要把庫存投進來，該先知道下面三件事。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95728"/>
            <a:ext cx="3454298" cy="2487168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05840" y="2395728"/>
            <a:ext cx="731520" cy="38100"/>
          </a:xfrm>
          <a:prstGeom prst="rect">
            <a:avLst/>
          </a:prstGeom>
          <a:solidFill>
            <a:srgbClr val="F0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286908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測試階段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286908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尚未正式營運。站上目前陳列的池是示範資料，不是真實交易。上線時程確定後會直接通知已登記的賣家。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2395728"/>
            <a:ext cx="3454298" cy="2487168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661306" y="2395728"/>
            <a:ext cx="731520" cy="38100"/>
          </a:xfrm>
          <a:prstGeom prst="rect">
            <a:avLst/>
          </a:prstGeom>
          <a:solidFill>
            <a:srgbClr val="F0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61306" y="2761488"/>
            <a:ext cx="286908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PSA 編號自動查證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200400"/>
            <a:ext cx="286908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還在等 PSA 核准 API。目前鑑定卡標成「暫未驗證」，但不擋開池 —— 編號的唯一性約束照常生效。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4164" y="2395728"/>
            <a:ext cx="3454298" cy="2487168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316772" y="2395728"/>
            <a:ext cx="731520" cy="38100"/>
          </a:xfrm>
          <a:prstGeom prst="rect">
            <a:avLst/>
          </a:prstGeom>
          <a:solidFill>
            <a:srgbClr val="35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16772" y="2761488"/>
            <a:ext cx="286908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已經可以用的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772" y="3200400"/>
            <a:ext cx="286908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抽成 0%、逐筆結算、買回價自訂、編號唯一性、commit-reveal 公平性、經濟護欄 —— 本簡報前面幾頁的機制都已經實作完成，畫面就是實際跑出來的。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120640"/>
            <a:ext cx="10765231" cy="914400"/>
          </a:xfrm>
          <a:prstGeom prst="roundRect">
            <a:avLst>
              <a:gd name="adj" fmla="val 3500"/>
            </a:avLst>
          </a:prstGeom>
          <a:solidFill>
            <a:srgbClr val="1E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42416" y="5340096"/>
            <a:ext cx="1010686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本簡報沒有出現任何使用者數、交易量或成長率。</a:t>
            </a:r>
            <a:r>
              <a:rPr sz="13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原因很簡單：平台還沒營運，那些數字現在都不存在。會出現的每一個數字，都是系統裡設定好的規則。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客人從哪裡來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你把庫存投進來，客人從哪裡來？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「抽成 0%」講的是你的成本，這一頁講的是流量。它是一份計畫 —— 沒有預估人數、沒有轉換率，平台還沒營運，那些數字給不出來。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8880"/>
            <a:ext cx="10765231" cy="1115568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987552" y="2468880"/>
            <a:ext cx="731520" cy="38100"/>
          </a:xfrm>
          <a:prstGeom prst="rect">
            <a:avLst/>
          </a:prstGeom>
          <a:solidFill>
            <a:srgbClr val="F0B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270662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社群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72384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0BB52"/>
                </a:solidFill>
                <a:latin typeface="PingFang TC"/>
                <a:ea typeface="PingFang TC"/>
                <a:cs typeface="PingFang TC"/>
              </a:rPr>
              <a:t>靠內容與口碑，不靠買廣告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670048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付費廣告投不了 —— </a:t>
            </a: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Meta 把台灣列在博弈類廣告的不支援市場，Google 台灣只開放國營彩券。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962656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我們發的內容是驗算 —— </a:t>
            </a: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完抽後公開種子，「自己算一次」比「開到大獎」的截圖耐看。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255264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開箱合作一律標示業配 —— </a:t>
            </a: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沒揭露的推薦在台灣是公平交易法的射程。要嘛標清楚，要嘛不做。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10765231" cy="1115568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87552" y="3694176"/>
            <a:ext cx="731520" cy="38100"/>
          </a:xfrm>
          <a:prstGeom prst="rect">
            <a:avLst/>
          </a:prstGeom>
          <a:solidFill>
            <a:srgbClr val="A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活動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A98CFF"/>
                </a:solidFill>
                <a:latin typeface="PingFang TC"/>
                <a:ea typeface="PingFang TC"/>
                <a:cs typeface="PingFang TC"/>
              </a:rPr>
              <a:t>平台出版位與規則，不出現金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895344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首發池排程 —— </a:t>
            </a: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新賣家的第一個池排進大廳的固定版位，不必一開始就跟老池搶自然排序。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4187952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主題檔期 —— </a:t>
            </a: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同一個系列或主題的池集中在同一週開，多個賣家共用一次流量。參不參加你決定。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4480560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不會辦的 —— </a:t>
            </a: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抽中送現金、保證回本、平台加碼收購。點數不能提現、平台不能買回自己的獎品。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919472"/>
            <a:ext cx="10765231" cy="1115568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987552" y="4919472"/>
            <a:ext cx="731520" cy="38100"/>
          </a:xfrm>
          <a:prstGeom prst="rect">
            <a:avLst/>
          </a:prstGeom>
          <a:solidFill>
            <a:srgbClr val="35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5840" y="5157216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跟店家合作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22976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35C98A"/>
                </a:solidFill>
                <a:latin typeface="PingFang TC"/>
                <a:ea typeface="PingFang TC"/>
                <a:cs typeface="PingFang TC"/>
              </a:rPr>
              <a:t>你的店與你的池互相帶客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5120640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賣家頁是你的線上門面 —— </a:t>
            </a: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開過的池、已出貨卡片、平均出貨天數、糾紛率，跟你的簡介同一頁。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5413248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池有公開網址 —— </a:t>
            </a: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印成 QR 貼在櫃檯、發進你自己的 LINE 群與社團。店裡看到卡，回家抽你的池。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5705856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做不到的 —— </a:t>
            </a: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平台不代管卡，寄賣沒有；一個池只屬於一個賣家，聯名池目前也沒有。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089904"/>
            <a:ext cx="107652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廣告政策查證（政策原文）：Meta「Online Gambling and Games」的不支援市場清單列有台灣；Google Ads 台灣 gambling 僅開放國營／國家主辦彩券，且經營者須為國家核准實體。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想先開一個池試試看？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第一個池上限 100 籤 / 100,000 點，沒有費用、不用保證金、不用審核排隊。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27648"/>
            <a:ext cx="10765231" cy="12700"/>
          </a:xfrm>
          <a:prstGeom prst="rect">
            <a:avLst/>
          </a:prstGeom>
          <a:solidFill>
            <a:srgbClr val="22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VaultDraw · 賣家合作說明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4063" y="642823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87168"/>
            <a:ext cx="5852160" cy="3108960"/>
          </a:xfrm>
          <a:prstGeom prst="roundRect">
            <a:avLst>
              <a:gd name="adj" fmla="val 3500"/>
            </a:avLst>
          </a:prstGeom>
          <a:solidFill>
            <a:srgbClr val="17161A"/>
          </a:solidFill>
          <a:ln w="12700">
            <a:solidFill>
              <a:srgbClr val="302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15568" y="279806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聯絡方式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310128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聯絡人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3547872"/>
            <a:ext cx="3657600" cy="12700"/>
          </a:xfrm>
          <a:prstGeom prst="rect">
            <a:avLst/>
          </a:prstGeom>
          <a:solidFill>
            <a:srgbClr val="3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15568" y="3877056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電話 /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7168" y="4114800"/>
            <a:ext cx="3657600" cy="12700"/>
          </a:xfrm>
          <a:prstGeom prst="rect">
            <a:avLst/>
          </a:prstGeom>
          <a:solidFill>
            <a:srgbClr val="3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15568" y="444398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Email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4681728"/>
            <a:ext cx="3657600" cy="12700"/>
          </a:xfrm>
          <a:prstGeom prst="rect">
            <a:avLst/>
          </a:prstGeom>
          <a:solidFill>
            <a:srgbClr val="3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15568" y="501091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網站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87168" y="5248656"/>
            <a:ext cx="3657600" cy="12700"/>
          </a:xfrm>
          <a:prstGeom prst="rect">
            <a:avLst/>
          </a:prstGeom>
          <a:solidFill>
            <a:srgbClr val="3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931152" y="2487168"/>
            <a:ext cx="45473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回顧：為什麼是這裡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9992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73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6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292608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抽成 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3200400"/>
            <a:ext cx="4272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票收扣掉你宣告的買回價，剩下全是你的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62102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73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6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3547872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逐筆結算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3822192"/>
            <a:ext cx="4272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一筆走完交付就入袋，不等整池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42428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73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6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4169664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買回價自己定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4443984"/>
            <a:ext cx="4272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絕對金額，開賣後鎖死，平台不調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48646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73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6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4791456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一卡不會被賣兩次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2" y="5065776"/>
            <a:ext cx="4272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資料庫層的唯一約束，護你的信譽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548640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73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600" b="1">
                <a:solidFill>
                  <a:srgbClr val="F73B20"/>
                </a:solidFill>
                <a:latin typeface="PingFang TC"/>
                <a:ea typeface="PingFang TC"/>
                <a:cs typeface="PingFang TC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5413248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F4F1EE"/>
                </a:solidFill>
                <a:latin typeface="PingFang TC"/>
                <a:ea typeface="PingFang TC"/>
                <a:cs typeface="PingFang TC"/>
              </a:rPr>
              <a:t>公平性可驗算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5472" y="5687568"/>
            <a:ext cx="4272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A49B96"/>
                </a:solidFill>
                <a:latin typeface="PingFang TC"/>
                <a:ea typeface="PingFang TC"/>
                <a:cs typeface="PingFang TC"/>
              </a:rPr>
              <a:t>客訴有客觀答案，不用自證清白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852160"/>
            <a:ext cx="107652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F6862"/>
                </a:solidFill>
                <a:latin typeface="PingFang TC"/>
                <a:ea typeface="PingFang TC"/>
                <a:cs typeface="PingFang TC"/>
              </a:rPr>
              <a:t>平台尚未正式營運。本簡報所有數字皆為系統設定值，非營運實績。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